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916C"/>
              </a:solidFill>
              <a:effectLst/>
            </c:spPr>
          </c:dPt>
          <c:dPt>
            <c:idx val="1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bubble3D val="0"/>
            <c:spPr>
              <a:solidFill>
                <a:srgbClr val="F77F00"/>
              </a:solidFill>
              <a:effectLst/>
            </c:spPr>
          </c:dPt>
          <c:dPt>
            <c:idx val="3"/>
            <c:bubble3D val="0"/>
            <c:spPr>
              <a:solidFill>
                <a:srgbClr val="2B934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Reciclable</c:v>
                </c:pt>
                <c:pt idx="1">
                  <c:v>Reparable</c:v>
                </c:pt>
                <c:pt idx="2">
                  <c:v>Donable</c:v>
                </c:pt>
                <c:pt idx="3">
                  <c:v>Procesado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Equipos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Laptop</c:v>
                  </c:pt>
                  <c:pt idx="1">
                    <c:v>Desktop</c:v>
                  </c:pt>
                  <c:pt idx="2">
                    <c:v>Monitor</c:v>
                  </c:pt>
                  <c:pt idx="3">
                    <c:v>Smartphone</c:v>
                  </c:pt>
                  <c:pt idx="4">
                    <c:v>Servidor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4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52B788"/>
            </a:solidFill>
            <a:ln w="3175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5</c:v>
                </c:pt>
                <c:pt idx="3">
                  <c:v>9</c:v>
                </c:pt>
                <c:pt idx="4">
                  <c:v>6</c:v>
                </c:pt>
                <c:pt idx="5">
                  <c:v>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3" Type="http://schemas.openxmlformats.org/officeDocument/2006/relationships/chart" Target="/ppt/charts/chart2.xml"/><Relationship Id="rId5" Type="http://schemas.openxmlformats.org/officeDocument/2006/relationships/chart" Target="/ppt/charts/chart3.xml"/><Relationship Id="rId2" Type="http://schemas.openxmlformats.org/officeDocument/2006/relationships/image" Target="../media/image-6-1.png"/><Relationship Id="rId4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8892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29740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Ecoñato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12 · Gestión de Residuos Electrónicos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2286000" cy="36576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1762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Consumo Responsables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297680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" y="4261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Inventario RAEE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77440" y="4297680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15184" y="4261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Certificados Digitales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4297680"/>
            <a:ext cx="164592" cy="164592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5" name="Text 12"/>
          <p:cNvSpPr/>
          <p:nvPr/>
        </p:nvSpPr>
        <p:spPr>
          <a:xfrm>
            <a:off x="4535424" y="4261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Estadísticas de Impacto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315200" y="16459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ODS 12?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9144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Consumo Responsables — busca garantizar modalidades de consumo y producción sostenibles para 2030, desacoplando el crecimiento económico del deterioro ambiental.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2011680" cy="34747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103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12.2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Recursos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Gestión sostenible y uso eficiente de los recursos naturales.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057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2057400"/>
            <a:ext cx="2011680" cy="34747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2103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12.4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Químicos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Reducir materiales peligrosos como plomo y mercurio en productos.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057400"/>
            <a:ext cx="2011680" cy="34747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103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12.5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Economía Circular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Reducir la generación de residuos mediante reciclaje y reutilización.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2057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2057400"/>
            <a:ext cx="2011680" cy="347472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2103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12.6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Empresas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9260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Integrar sostenibilidad en los informes corporativos.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Problemática del E-Waste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27432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F77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74M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</a:rPr>
              <a:t>ton/año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</a:rPr>
              <a:t>de e-waste proyectadas para 2030 a nivel mundial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27432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651760" cy="54864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&lt;20%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33756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</a:rPr>
              <a:t>reciclado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37560" y="2880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</a:rPr>
              <a:t>del e-waste global se gestiona de forma formal y segura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651760" cy="27432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 kg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621792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de plomo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2880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</a:rPr>
              <a:t>contiene un solo monitor CRT, contaminando suelo por décadas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Shape 17"/>
          <p:cNvSpPr/>
          <p:nvPr/>
        </p:nvSpPr>
        <p:spPr>
          <a:xfrm>
            <a:off x="365760" y="4023360"/>
            <a:ext cx="54864" cy="77724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07822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</a:rPr>
              <a:t>Colombia gestiona sus RAEE bajo la Resolución 1297. Las empresas que no documentan su disposición quedan expuestas a sanciones ambientales y reputacionales.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aporta Ecoñato al ODS 12?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78308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Inventario RAEE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6276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Registro centralizado de todos los equipos electrónicos de la empresa con tipo, estado y materiales. Cumple Meta 12.5.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005840"/>
            <a:ext cx="54864" cy="1783080"/>
          </a:xfrm>
          <a:prstGeom prst="rect">
            <a:avLst/>
          </a:prstGeom>
          <a:solidFill>
            <a:srgbClr val="F77F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1704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Gestión del Ciclo de Vida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337560" y="16276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Clasifica equipos como Reciclables, Reparables o Donables, extendiendo su vida útil antes del descarte. Cumple Meta 12.2.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35040" y="1005840"/>
            <a:ext cx="54864" cy="1783080"/>
          </a:xfrm>
          <a:prstGeom prst="rect">
            <a:avLst/>
          </a:prstGeom>
          <a:solidFill>
            <a:srgbClr val="457B9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7043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Certificados Digitales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172200" y="162763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Genera certificados de disposición responsable como evidencia legal ante autoridades ambientales. Cumple Meta 12.4.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6A4C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09067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Reportes de Impacto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Reportes automáticos con kg recuperados, CO₂ evitado y litros de agua ahorrados. Cumple Meta 12.6.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0040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200400" y="2926080"/>
            <a:ext cx="54864" cy="1783080"/>
          </a:xfrm>
          <a:prstGeom prst="rect">
            <a:avLst/>
          </a:prstGeom>
          <a:solidFill>
            <a:srgbClr val="2B934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0906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947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Centro Educativo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337560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Sensibiliza a los colaboradores sobre e-waste y buenas prácticas de consumo electrónico. Cumple Meta 12.8.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035040" y="2926080"/>
            <a:ext cx="54864" cy="178308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090672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294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Trazabilidad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172200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Registro histórico por equipo: quién lo ingresó, cuándo y cómo fue procesado. Transparencia total.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Ecoñato?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51560"/>
            <a:ext cx="1600200" cy="54864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216152"/>
            <a:ext cx="566928" cy="56692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252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606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Registro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301752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La empresa crea su cuenta en Ecoñato con NIT y sector.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74520" y="2706624"/>
            <a:ext cx="109728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Shape 8"/>
          <p:cNvSpPr/>
          <p:nvPr/>
        </p:nvSpPr>
        <p:spPr>
          <a:xfrm>
            <a:off x="2011680" y="105156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051560"/>
            <a:ext cx="1600200" cy="5486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3744" y="1216152"/>
            <a:ext cx="566928" cy="56692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4" name="Text 11"/>
          <p:cNvSpPr/>
          <p:nvPr/>
        </p:nvSpPr>
        <p:spPr>
          <a:xfrm>
            <a:off x="2523744" y="12252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9659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84832" y="2606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Inventario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084832" y="301752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Agrega cada equipo: tipo, marca, año, estado y materiales.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11880" y="2706624"/>
            <a:ext cx="109728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Shape 15"/>
          <p:cNvSpPr/>
          <p:nvPr/>
        </p:nvSpPr>
        <p:spPr>
          <a:xfrm>
            <a:off x="3749040" y="105156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49040" y="1051560"/>
            <a:ext cx="160020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1" name="Shape 17"/>
          <p:cNvSpPr/>
          <p:nvPr/>
        </p:nvSpPr>
        <p:spPr>
          <a:xfrm>
            <a:off x="4261104" y="1216152"/>
            <a:ext cx="566928" cy="566928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2" name="Text 18"/>
          <p:cNvSpPr/>
          <p:nvPr/>
        </p:nvSpPr>
        <p:spPr>
          <a:xfrm>
            <a:off x="4261104" y="12252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96596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22192" y="2606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Gestión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822192" y="301752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Clasifica y actualiza el estado de cada equipo.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349240" y="2706624"/>
            <a:ext cx="109728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7" name="Shape 22"/>
          <p:cNvSpPr/>
          <p:nvPr/>
        </p:nvSpPr>
        <p:spPr>
          <a:xfrm>
            <a:off x="5486400" y="105156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0" y="1051560"/>
            <a:ext cx="1600200" cy="54864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29" name="Shape 24"/>
          <p:cNvSpPr/>
          <p:nvPr/>
        </p:nvSpPr>
        <p:spPr>
          <a:xfrm>
            <a:off x="5998464" y="1216152"/>
            <a:ext cx="566928" cy="56692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30" name="Text 25"/>
          <p:cNvSpPr/>
          <p:nvPr/>
        </p:nvSpPr>
        <p:spPr>
          <a:xfrm>
            <a:off x="5998464" y="12252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96596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59552" y="2606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Reportes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59552" y="301752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Genera PDF con KPIs de impacto ambiental.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086600" y="2706624"/>
            <a:ext cx="109728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5" name="Shape 29"/>
          <p:cNvSpPr/>
          <p:nvPr/>
        </p:nvSpPr>
        <p:spPr>
          <a:xfrm>
            <a:off x="7223760" y="105156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223760" y="1051560"/>
            <a:ext cx="1600200" cy="54864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37" name="Shape 31"/>
          <p:cNvSpPr/>
          <p:nvPr/>
        </p:nvSpPr>
        <p:spPr>
          <a:xfrm>
            <a:off x="7735824" y="1216152"/>
            <a:ext cx="566928" cy="566928"/>
          </a:xfrm>
          <a:prstGeom prst="ellipse">
            <a:avLst/>
          </a:prstGeom>
          <a:solidFill>
            <a:srgbClr val="2B9348"/>
          </a:solidFill>
          <a:ln/>
        </p:spPr>
      </p:sp>
      <p:sp>
        <p:nvSpPr>
          <p:cNvPr id="38" name="Text 32"/>
          <p:cNvSpPr/>
          <p:nvPr/>
        </p:nvSpPr>
        <p:spPr>
          <a:xfrm>
            <a:off x="7735824" y="122529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965960"/>
            <a:ext cx="502920" cy="5029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296912" y="260604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Certificado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296912" y="301752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Descarga el certificado de disposición responsable.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3" name="Shape 36"/>
          <p:cNvSpPr/>
          <p:nvPr/>
        </p:nvSpPr>
        <p:spPr>
          <a:xfrm>
            <a:off x="274320" y="4617720"/>
            <a:ext cx="54864" cy="3840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4" name="Text 37"/>
          <p:cNvSpPr/>
          <p:nvPr/>
        </p:nvSpPr>
        <p:spPr>
          <a:xfrm>
            <a:off x="457200" y="465429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La plataforma opera en modo demo con datos de muestra. El modo producción se conecta a un backend Node.js + MySQL con autenticación JWT.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 las Gráficas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320040" y="37490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" y="3749040"/>
            <a:ext cx="54864" cy="8229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2219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Distribución de Estados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069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Muestra qué proporción del inventario es Reciclable, Reparable, Donable o ya fue Procesado.</a:t>
            </a:r>
            <a:endParaRPr lang="en-US" sz="9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3246120" y="960120"/>
          <a:ext cx="2834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3246120" y="374904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46120" y="3749040"/>
            <a:ext cx="54864" cy="822960"/>
          </a:xfrm>
          <a:prstGeom prst="rect">
            <a:avLst/>
          </a:prstGeom>
          <a:solidFill>
            <a:srgbClr val="F77F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822192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67328" y="3785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Equipos por Tipo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38328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Cantidad de dispositivos registrados agrupados por categoría: laptop, desktop, servidor, etc.</a:t>
            </a:r>
            <a:endParaRPr lang="en-US" sz="95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6217920" y="960120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Shape 9"/>
          <p:cNvSpPr/>
          <p:nvPr/>
        </p:nvSpPr>
        <p:spPr>
          <a:xfrm>
            <a:off x="6217920" y="37490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217920" y="3749040"/>
            <a:ext cx="54864" cy="822960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22192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39128" y="3785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Tendencia Mensual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6355080" y="4069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Evolución de equipos registrados mes a mes. Detecta picos de actividad o periodos sin gestión.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Impacto Ambiental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</a:rPr>
              <a:t>Calculados automáticamente por Ecoñato con base en el inventario registrado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3291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463040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2.3 kg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11480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por equipo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Kg de materiales recuperados estimados por dispositivo gestionado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234440"/>
            <a:ext cx="2011680" cy="3291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234440"/>
            <a:ext cx="2011680" cy="54864"/>
          </a:xfrm>
          <a:prstGeom prst="rect">
            <a:avLst/>
          </a:prstGeom>
          <a:solidFill>
            <a:srgbClr val="F77F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1463040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15 kg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560320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F00"/>
                </a:solidFill>
              </a:rPr>
              <a:t>CO₂ evitado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60320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Kilogramos de CO₂ que se evitan por cada equipo correctamente procesado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17720" y="1234440"/>
            <a:ext cx="2011680" cy="3291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1234440"/>
            <a:ext cx="2011680" cy="54864"/>
          </a:xfrm>
          <a:prstGeom prst="rect">
            <a:avLst/>
          </a:prstGeom>
          <a:solidFill>
            <a:srgbClr val="457B9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463040"/>
            <a:ext cx="621792" cy="621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120 L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4709160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7B9D"/>
                </a:solidFill>
              </a:rPr>
              <a:t>agua ahorrada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09160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Litros de agua que no se consumen gracias a no extraer nuevas materias primas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66560" y="1234440"/>
            <a:ext cx="2011680" cy="32918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66560" y="1234440"/>
            <a:ext cx="2011680" cy="54864"/>
          </a:xfrm>
          <a:prstGeom prst="rect">
            <a:avLst/>
          </a:prstGeom>
          <a:solidFill>
            <a:srgbClr val="6A4C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1463040"/>
            <a:ext cx="621792" cy="6217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45 kWh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6858000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4C93"/>
                </a:solidFill>
              </a:rPr>
              <a:t>energía ahorrada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58000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</a:rPr>
              <a:t>Kilovatios-hora ahorrados por equipo al reciclar metales en lugar de extraerlos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0" y="7315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31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registrado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paso real hacia el ODS 12.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2057400"/>
            <a:ext cx="1828800" cy="457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240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Ecoñato convierte la gestión de residuos electrónicos en un proceso simple, trazable y con impacto medible para cualquier empresa colombiana.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246120"/>
            <a:ext cx="123444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ODS 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0" y="3246120"/>
            <a:ext cx="123444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0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E-Waste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3246120"/>
            <a:ext cx="123444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RAEE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123444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657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Economía Circular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0" y="3657600"/>
            <a:ext cx="123444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1828800" y="3657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Colombia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916C"/>
                </a:solidFill>
              </a:rPr>
              <a:t>econato.co  ·  ODS 12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Ecoñato — ODS 12</dc:title>
  <dc:subject>PptxGenJS Presentation</dc:subject>
  <dc:creator>Ecoñato</dc:creator>
  <cp:lastModifiedBy>Ecoñato</cp:lastModifiedBy>
  <cp:revision>1</cp:revision>
  <dcterms:created xsi:type="dcterms:W3CDTF">2026-05-12T20:43:56Z</dcterms:created>
  <dcterms:modified xsi:type="dcterms:W3CDTF">2026-05-12T20:43:56Z</dcterms:modified>
</cp:coreProperties>
</file>